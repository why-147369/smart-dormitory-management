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3.svg" ContentType="image/svg+xml"/>
  <Override PartName="/ppt/media/image105.svg" ContentType="image/svg+xml"/>
  <Override PartName="/ppt/media/image108.svg" ContentType="image/svg+xml"/>
  <Override PartName="/ppt/media/image11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0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8.svg" ContentType="image/svg+xml"/>
  <Override PartName="/ppt/media/image7.svg" ContentType="image/svg+xml"/>
  <Override PartName="/ppt/media/image70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3.svg" ContentType="image/svg+xml"/>
  <Override PartName="/ppt/media/image85.svg" ContentType="image/svg+xml"/>
  <Override PartName="/ppt/media/image88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76" r:id="rId12"/>
    <p:sldId id="277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8" userDrawn="1">
          <p15:clr>
            <a:srgbClr val="747775"/>
          </p15:clr>
        </p15:guide>
        <p15:guide id="2" pos="278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8"/>
        <p:guide pos="278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尊敬的各位评委老师，下午好。我是计算机科学与技术专业的王和友，我的毕业设计课题是“基于Spring Boot的智能宿舍管理系统设计与实现”。在刘海波老师的悉心指导下，我完成了本次设计。接下来，我将从研究背景、系统设计、功能实现等几个方面，向各位老师汇报我的研究成果。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八个核心部分展开。首先，我会介绍项目的研究背景与意义；其次，阐述系统的需求分析过程；接着，详细讲解系统的总体设计和数据库设计；然后，介绍项目所采用的关键技术栈；之后，展示系统的核心功能实现；最后，对系统进行测试分析，并对整个项目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研究背景。传统的宿舍管理模式，在面对日益增长的学生数量时，显得力不从心。信息孤岛、流程繁琐、服务不便等问题日益突出，严重影响了管理效率和学生体验。因此，利用现代信息技术对宿舍管理进行数字化、智能化改造，是顺应时代发展的必然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研究意义在于，通过数字化手段显著提升管理效率，优化学生的住宿体验，并为学校管理提供数据支持。我们的设计目的非常明确，就是要解决实际管理中的痛点，实现宿舍管理的数字化转型，并为学生、宿管员和管理员这三类核心用户提供高效的服务。同时，通过这个项目，我也希望提升自身的综合技术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系统需求分析阶段，我们首先进行了可行性分析。技术上，我们选用的都是当前非常成熟和主流的技术栈，确保了开发的可行性。操作上，系统设计注重界面友好和操作简便，保证了用户能够快速上手。社会层面，该系统顺应了数字化校园建设的趋势，能够获得多方认可，并且我们严格遵守了信息安全法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用例分析。我们将系统用户分为学生、宿管员和管理员三个角色。学生是主要使用者，进行日常事务办理；宿管员负责楼栋内的日常管理和审批；管理员则负责整个系统的全局配置和数据维护。这张图展示了学生角色的详细用例，涵盖了从报修到缴费的各项核心功能。宿管员和管理员的用例也同样进行了详细梳理，确保所有业务需求都被覆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在系统设计阶段，我们采用了前后端分离的B/S架构。前端基于Vue 3和Element Plus构建用户界面，后端则以Spring Boot为核心，采用经典的三层架构来处理业务逻辑。安全方面，我们整合了Spring Security和JWT来实现无状态的身份认证。数据库选用MySQL来存储所有数据。这张架构图清晰地展示了各层之间的交互关系。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根据前期的用户需求分析，我们将整个宿舍管理系统从业务逻辑上划分为三大核心功能模块：学生端、宿管端和管理员端。这一划分旨在精准匹配不同角色的核心诉求。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首先是左侧展示的三个模块定位：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学生端：作为服务的主要受众，学生端集成了所有日常高频的生活功能，从简单的信息查询到复杂的在线报修和宿舍设施预约，目的是打造一个“一站式”服务平台，提升学生的生活便利度。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宿管端：侧重于“执行”与“管理”，帮助宿管老师更高效地处理日常事务，如处理学生的报修单、记录卫生检查结果以及管理水电费等，减少纸质化操作。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管理员端：则是整个系统的“大脑”，提供全局的用户权限控制、数据统计分析以及系统参数配置，确保系统稳定运行。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右侧的架构图展示了“学生端”内部的详细功能拆解。通过这种清晰的模块化设计，我们不仅能让系统的逻辑更加清晰，也能降低后续的开发和维护成本，同时保障各角色之间的业务流转顺畅高效。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设计是系统开发的关键环节。我们首先通过E-R图梳理了系统中的核心实体及其关系。主要包括角色实体、宿舍资源实体和业务实体三大类。这张图展示了宿舍资源相关的实体关系，如宿舍楼、宿舍和床位之间的包含关系。清晰的实体关系为后续的数据表设计奠定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本项目采用了一系列成熟的开源技术。后端核心是Spring Boot框架，它极大地简化了开发流程。前端则使用Vue 3结合Element Plus组件库，实现了高效的用户界面开发。数据库选用MySQL，确保了数据存储的稳定和高效。这些技术的组合，为系统的高性能和可维护性提供了保障。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除了核心框架，我们还集成了其他关键技术。例如，使用JWT和Spring Security实现了安全的用户认证和权限控制，确保了系统访问的安全性。MyBatis-Plus的引入大大简化了数据库操作，提高了开发效率。特别值得一提的是，我们集成了DeepSeek AI，为系统增加了智能客服功能，这也是本项目的一个创新点。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系统功能的实现与展示。首先是学生端的核心功能。学生可以通过登录界面进入系统，密码经过了加密处理。在线报修功能允许学生方便地提交申请，并实时跟踪进度。换寝申请功能则通过后端事务保证了数据的一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宿管员端，核心功能包括打卡管理、水电费管理和文明宿舍评选，这些都极大地减轻了宿管员的工作负担。管理员端则提供了强大的后台管理能力，包括用户管理、数据统计可视化以及Excel报表的导入导出功能。这张截图展示了管理员处理换寝申请的界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智能客服是本系统的一个亮点功能。我们对接了DeepSeek AI接口，实现了智能问答。学生可以通过聊天窗口快速咨询常见问题，如宿舍规定、报修流程等。当AI无法解决复杂问题时，还可以转接人工客服。这大大提升了服务的响应速度和学生的满意度。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为了确保系统的质量，我们进行了全面的测试。测试环境基于Windows 11系统，使用了IDEA和VS Code等开发工具，后端使用了Spring Boot与内置Tomcat，前端使用Vite进行构建，数据库选用稳定的MySQL 8.0。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我们采用了多种测试方法：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功能测试：采用黑盒测试方法，覆盖所有核心业务流程，确保所有功能均按预期正常运行。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性能测试：使用JMeter进行压力测试，模拟500用户并发场景，系统平均响应时间控制在2秒以内，表现出极高的稳定性。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安全性测试：系统有效抵御了常见的SQL注入和XSS跨站脚本攻击，并对用户密码等敏感数据进行了加密存储。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兼容性测试：在Chrome、Firefox、Edge等主流浏览器中均表现一致，能很好地适应不同的屏幕分辨率。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总体而言，系统功能完善、性能稳定、安全可靠且具备良好的兼容性。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的项目进行总结。本次设计成功实现了一个功能完整的智能宿舍管理系统。技术上，我们采用了前后端分离架构，并整合了多种主流技术。项目的创新点主要体现在集成了AI智能客服、严谨的业务流程管理以及丰富的数据可视化功能。总的来说，系统达到了预期的设计目标，能够有效解决实际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这个系统还有很大的扩展空间。功能上，可以集成在线支付、开发移动端App，并与物联网设备结合。性能上，可以引入Redis缓存和进行微服务改造。智能化方面，可以进一步利用大数据进行异常行为分析和个性化推荐。这些都是未来值得深入研究和开发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在此，我要衷心感谢我的指导老师刘海波老师，感谢学院和各位老师的培养，也要感谢同学们的帮助。没有你们的支持，我无法顺利完成这次毕业设计。谢谢大家！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我的汇报到此结束。感谢各位评委老师的聆听，恳请各位老师批评指正。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35.svg"/><Relationship Id="rId16" Type="http://schemas.openxmlformats.org/officeDocument/2006/relationships/image" Target="../media/image34.png"/><Relationship Id="rId15" Type="http://schemas.openxmlformats.org/officeDocument/2006/relationships/image" Target="../media/image33.svg"/><Relationship Id="rId14" Type="http://schemas.openxmlformats.org/officeDocument/2006/relationships/image" Target="../media/image32.png"/><Relationship Id="rId13" Type="http://schemas.openxmlformats.org/officeDocument/2006/relationships/image" Target="../media/image31.svg"/><Relationship Id="rId12" Type="http://schemas.openxmlformats.org/officeDocument/2006/relationships/image" Target="../media/image30.png"/><Relationship Id="rId11" Type="http://schemas.openxmlformats.org/officeDocument/2006/relationships/image" Target="../media/image29.svg"/><Relationship Id="rId10" Type="http://schemas.openxmlformats.org/officeDocument/2006/relationships/image" Target="../media/image28.png"/><Relationship Id="rId1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4" Type="http://schemas.openxmlformats.org/officeDocument/2006/relationships/notesSlide" Target="../notesSlides/notesSlide6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39.xml"/><Relationship Id="rId21" Type="http://schemas.openxmlformats.org/officeDocument/2006/relationships/tags" Target="../tags/tag38.xml"/><Relationship Id="rId20" Type="http://schemas.openxmlformats.org/officeDocument/2006/relationships/image" Target="../media/image45.svg"/><Relationship Id="rId2" Type="http://schemas.openxmlformats.org/officeDocument/2006/relationships/tags" Target="../tags/tag25.xml"/><Relationship Id="rId19" Type="http://schemas.openxmlformats.org/officeDocument/2006/relationships/image" Target="../media/image44.png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image" Target="../media/image43.svg"/><Relationship Id="rId12" Type="http://schemas.openxmlformats.org/officeDocument/2006/relationships/image" Target="../media/image42.png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2.svg"/><Relationship Id="rId7" Type="http://schemas.openxmlformats.org/officeDocument/2006/relationships/image" Target="../media/image51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5.jpeg"/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svg"/><Relationship Id="rId8" Type="http://schemas.openxmlformats.org/officeDocument/2006/relationships/image" Target="../media/image67.png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image" Target="../media/image66.png"/><Relationship Id="rId3" Type="http://schemas.openxmlformats.org/officeDocument/2006/relationships/tags" Target="../tags/tag41.xml"/><Relationship Id="rId21" Type="http://schemas.openxmlformats.org/officeDocument/2006/relationships/notesSlide" Target="../notesSlides/notesSlide11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40.xml"/><Relationship Id="rId19" Type="http://schemas.openxmlformats.org/officeDocument/2006/relationships/tags" Target="../tags/tag51.xml"/><Relationship Id="rId18" Type="http://schemas.openxmlformats.org/officeDocument/2006/relationships/image" Target="../media/image71.png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image" Target="../media/image70.svg"/><Relationship Id="rId13" Type="http://schemas.openxmlformats.org/officeDocument/2006/relationships/image" Target="../media/image69.png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png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60.xml"/><Relationship Id="rId15" Type="http://schemas.openxmlformats.org/officeDocument/2006/relationships/image" Target="../media/image74.svg"/><Relationship Id="rId14" Type="http://schemas.openxmlformats.org/officeDocument/2006/relationships/image" Target="../media/image73.png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image" Target="../media/image29.svg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81.png"/><Relationship Id="rId7" Type="http://schemas.openxmlformats.org/officeDocument/2006/relationships/image" Target="../media/image80.svg"/><Relationship Id="rId6" Type="http://schemas.openxmlformats.org/officeDocument/2006/relationships/image" Target="../media/image79.png"/><Relationship Id="rId5" Type="http://schemas.openxmlformats.org/officeDocument/2006/relationships/image" Target="../media/image78.svg"/><Relationship Id="rId4" Type="http://schemas.openxmlformats.org/officeDocument/2006/relationships/image" Target="../media/image77.png"/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85.svg"/><Relationship Id="rId12" Type="http://schemas.openxmlformats.org/officeDocument/2006/relationships/image" Target="../media/image84.png"/><Relationship Id="rId11" Type="http://schemas.openxmlformats.org/officeDocument/2006/relationships/image" Target="../media/image83.svg"/><Relationship Id="rId10" Type="http://schemas.openxmlformats.org/officeDocument/2006/relationships/image" Target="../media/image82.png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2.svg"/><Relationship Id="rId7" Type="http://schemas.openxmlformats.org/officeDocument/2006/relationships/image" Target="../media/image91.png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9.png"/><Relationship Id="rId8" Type="http://schemas.openxmlformats.org/officeDocument/2006/relationships/image" Target="../media/image98.svg"/><Relationship Id="rId7" Type="http://schemas.openxmlformats.org/officeDocument/2006/relationships/image" Target="../media/image97.png"/><Relationship Id="rId6" Type="http://schemas.openxmlformats.org/officeDocument/2006/relationships/image" Target="../media/image64.jpeg"/><Relationship Id="rId5" Type="http://schemas.openxmlformats.org/officeDocument/2006/relationships/image" Target="../media/image96.jpeg"/><Relationship Id="rId4" Type="http://schemas.openxmlformats.org/officeDocument/2006/relationships/image" Target="../media/image95.jpeg"/><Relationship Id="rId3" Type="http://schemas.openxmlformats.org/officeDocument/2006/relationships/image" Target="../media/image94.svg"/><Relationship Id="rId2" Type="http://schemas.openxmlformats.org/officeDocument/2006/relationships/image" Target="../media/image93.png"/><Relationship Id="rId18" Type="http://schemas.openxmlformats.org/officeDocument/2006/relationships/notesSlide" Target="../notesSlides/notesSlide15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106.png"/><Relationship Id="rId15" Type="http://schemas.openxmlformats.org/officeDocument/2006/relationships/image" Target="../media/image105.svg"/><Relationship Id="rId14" Type="http://schemas.openxmlformats.org/officeDocument/2006/relationships/image" Target="../media/image104.png"/><Relationship Id="rId13" Type="http://schemas.openxmlformats.org/officeDocument/2006/relationships/image" Target="../media/image103.svg"/><Relationship Id="rId12" Type="http://schemas.openxmlformats.org/officeDocument/2006/relationships/image" Target="../media/image102.png"/><Relationship Id="rId11" Type="http://schemas.openxmlformats.org/officeDocument/2006/relationships/image" Target="../media/image101.jpeg"/><Relationship Id="rId10" Type="http://schemas.openxmlformats.org/officeDocument/2006/relationships/image" Target="../media/image100.svg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7" Type="http://schemas.openxmlformats.org/officeDocument/2006/relationships/notesSlide" Target="../notesSlides/notesSlide16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76.xml"/><Relationship Id="rId24" Type="http://schemas.openxmlformats.org/officeDocument/2006/relationships/image" Target="../media/image114.svg"/><Relationship Id="rId23" Type="http://schemas.openxmlformats.org/officeDocument/2006/relationships/image" Target="../media/image113.png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61.xml"/><Relationship Id="rId19" Type="http://schemas.openxmlformats.org/officeDocument/2006/relationships/tags" Target="../tags/tag72.xml"/><Relationship Id="rId18" Type="http://schemas.openxmlformats.org/officeDocument/2006/relationships/image" Target="../media/image112.svg"/><Relationship Id="rId17" Type="http://schemas.openxmlformats.org/officeDocument/2006/relationships/image" Target="../media/image111.png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image" Target="../media/image110.svg"/><Relationship Id="rId11" Type="http://schemas.openxmlformats.org/officeDocument/2006/relationships/image" Target="../media/image109.png"/><Relationship Id="rId10" Type="http://schemas.openxmlformats.org/officeDocument/2006/relationships/tags" Target="../tags/tag67.xml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image" Target="../media/image116.svg"/><Relationship Id="rId4" Type="http://schemas.openxmlformats.org/officeDocument/2006/relationships/image" Target="../media/image115.png"/><Relationship Id="rId3" Type="http://schemas.openxmlformats.org/officeDocument/2006/relationships/tags" Target="../tags/tag78.xml"/><Relationship Id="rId21" Type="http://schemas.openxmlformats.org/officeDocument/2006/relationships/notesSlide" Target="../notesSlides/notesSlide17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77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image" Target="../media/image120.svg"/><Relationship Id="rId16" Type="http://schemas.openxmlformats.org/officeDocument/2006/relationships/image" Target="../media/image119.png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image" Target="../media/image118.svg"/><Relationship Id="rId10" Type="http://schemas.openxmlformats.org/officeDocument/2006/relationships/image" Target="../media/image117.png"/><Relationship Id="rId1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image" Target="../media/image5.svg"/><Relationship Id="rId4" Type="http://schemas.openxmlformats.org/officeDocument/2006/relationships/image" Target="../media/image121.png"/><Relationship Id="rId3" Type="http://schemas.openxmlformats.org/officeDocument/2006/relationships/tags" Target="../tags/tag90.xml"/><Relationship Id="rId21" Type="http://schemas.openxmlformats.org/officeDocument/2006/relationships/notesSlide" Target="../notesSlides/notesSlide18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89.xml"/><Relationship Id="rId19" Type="http://schemas.openxmlformats.org/officeDocument/2006/relationships/tags" Target="../tags/tag100.xml"/><Relationship Id="rId18" Type="http://schemas.openxmlformats.org/officeDocument/2006/relationships/tags" Target="../tags/tag99.xml"/><Relationship Id="rId17" Type="http://schemas.openxmlformats.org/officeDocument/2006/relationships/image" Target="../media/image33.svg"/><Relationship Id="rId16" Type="http://schemas.openxmlformats.org/officeDocument/2006/relationships/image" Target="../media/image81.png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image" Target="../media/image7.svg"/><Relationship Id="rId10" Type="http://schemas.openxmlformats.org/officeDocument/2006/relationships/image" Target="../media/image122.png"/><Relationship Id="rId1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10526740" cy="143991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基于Spring Boot的智能宿舍管理系统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设计与实现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10160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46990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46736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王和友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1000" y="46990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99000" y="46736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刘海波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46990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620000" y="4673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学院：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人工智能学院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7000" y="54610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5435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计算机科学与技术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15000" y="54610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223000" y="5435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答辩日期：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r>
              <a:rPr lang="en-US" sz="28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5207000" cy="11176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952500" y="1727200"/>
            <a:ext cx="76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905000" y="17018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研究背景与意义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 · 研究意义 · 设计目的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762000" y="2743200"/>
            <a:ext cx="5207000" cy="11176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952500" y="3048000"/>
            <a:ext cx="76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905000" y="30226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系统需求分析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可行性分析 ·  用例分析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762000" y="3975100"/>
            <a:ext cx="5207000" cy="11176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952500" y="4267200"/>
            <a:ext cx="76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1905000" y="42418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系统总体设计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 · 功能模块设计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762000" y="5207000"/>
            <a:ext cx="5207000" cy="11176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952500" y="5486400"/>
            <a:ext cx="76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1905000" y="5461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数据库设计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核心实体与关系 · 数据表设计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6223000" y="1524000"/>
            <a:ext cx="5207000" cy="11176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6413500" y="1727200"/>
            <a:ext cx="76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7366000" y="17018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关键技术栈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后端技术 · 前端技术 · 数据库及其他技术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6223000" y="2743200"/>
            <a:ext cx="5207000" cy="11176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6413500" y="3048000"/>
            <a:ext cx="76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7366000" y="30226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系统功能实现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学生端 · 宿管端 · 管理员端核心功能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20"/>
            </p:custDataLst>
          </p:nvPr>
        </p:nvSpPr>
        <p:spPr>
          <a:xfrm>
            <a:off x="6223000" y="3975100"/>
            <a:ext cx="5207000" cy="11176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1"/>
            </p:custDataLst>
          </p:nvPr>
        </p:nvSpPr>
        <p:spPr>
          <a:xfrm>
            <a:off x="6413500" y="4267200"/>
            <a:ext cx="76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2"/>
            </p:custDataLst>
          </p:nvPr>
        </p:nvSpPr>
        <p:spPr>
          <a:xfrm>
            <a:off x="7366000" y="42418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系统测试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测试环境 · 测试方法 · 测试结果分析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23"/>
            </p:custDataLst>
          </p:nvPr>
        </p:nvSpPr>
        <p:spPr>
          <a:xfrm>
            <a:off x="6223000" y="5207000"/>
            <a:ext cx="5207000" cy="11176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24"/>
            </p:custDataLst>
          </p:nvPr>
        </p:nvSpPr>
        <p:spPr>
          <a:xfrm>
            <a:off x="6413500" y="5486400"/>
            <a:ext cx="76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25"/>
            </p:custDataLst>
          </p:nvPr>
        </p:nvSpPr>
        <p:spPr>
          <a:xfrm>
            <a:off x="7366000" y="5461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 · 未来展望与改进方向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研究背景与意义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211" r="2211"/>
          <a:stretch>
            <a:fillRect/>
          </a:stretch>
        </p:blipFill>
        <p:spPr>
          <a:xfrm>
            <a:off x="762000" y="1778000"/>
            <a:ext cx="4572000" cy="4318000"/>
          </a:xfrm>
          <a:prstGeom prst="roundRect">
            <a:avLst>
              <a:gd name="adj" fmla="val 4705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842000" y="1778000"/>
            <a:ext cx="5588000" cy="4558274"/>
          </a:xfrm>
          <a:prstGeom prst="roundRect">
            <a:avLst>
              <a:gd name="adj" fmla="val 445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146800" y="2082800"/>
            <a:ext cx="4978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传统宿舍管理的困境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146800" y="2730500"/>
            <a:ext cx="497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随着高校扩招，学生数量激增，传统的人工管理模式面临巨大压力，在效率与服务上均难以满足现代校园发展需求。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800" y="3556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604000" y="3530600"/>
            <a:ext cx="4521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效率低下 · 信息孤岛与流程繁琐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宿舍分配、水电抄表等依赖人工，信息更新滞后；报修需线下登记，进度难追踪且易出错。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6800" y="457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604000" y="4546600"/>
            <a:ext cx="452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服务不便 · 缺乏数字化渠道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查询住宿信息、联系舍友等日常需求均需前往管理处，严重影响师生体验。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6800" y="5461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604000" y="5435600"/>
            <a:ext cx="4521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时代趋势 · 数字化转型必然选择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信息技术推动校园管理升级，开发高效、便捷的智能管理系统已是大势所趋。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368998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研究背景与意义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558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74800" y="1930400"/>
            <a:ext cx="381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研究意义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667000"/>
            <a:ext cx="45974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29464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28194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提升管理效率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实现流程数字化，降低人工成本，提高工作效率和数据准确性。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66800" y="3873500"/>
            <a:ext cx="45974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41529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40259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优化学生体验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提供报修、缴费、查询等便捷在线服务，全方位提升学生满意度。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66800" y="5080000"/>
            <a:ext cx="45974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53594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52324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辅助科学决策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生成多维数据报表，直观展示宿舍运行状态，为高校管理者提供科学依据。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27800" y="19558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35800" y="1930400"/>
            <a:ext cx="381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设计目的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27800" y="2667000"/>
            <a:ext cx="22225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05600" y="2857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37400" y="2819400"/>
            <a:ext cx="146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解决实际问题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针对管理痛点，开发功能齐全、操作便捷、性能稳定的系统。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902700" y="2667000"/>
            <a:ext cx="22225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80500" y="2857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512300" y="2819400"/>
            <a:ext cx="146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实现数字化转型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将核心业务流程进行全面数字化改造，打破信息孤岛。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527800" y="4445000"/>
            <a:ext cx="22225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05600" y="4635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37400" y="4597400"/>
            <a:ext cx="146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服务多角色用户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满足学生、宿管员、管理员三类核心用户的不同业务需求。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902700" y="4445000"/>
            <a:ext cx="22225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80500" y="4635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512300" y="4597400"/>
            <a:ext cx="146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提升技术能力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在全流程项目开发实践中，系统提升个人综合技术应用能力。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可行性分析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032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400" y="2413000"/>
            <a:ext cx="711200" cy="711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889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技术可行性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064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技术栈成熟：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Java 17、Spring Boot、Vue 3、MySQL 等主流技术，生态完善，资源丰富。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开发工具通用：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IDEA、VS Code 等常用工具，降低上手门槛，便于团队协作。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架构方案合理：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前后端分离架构设计，解耦清晰，技术搭配兼容性好，易于维护扩展。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2032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0400" y="2413000"/>
            <a:ext cx="711200" cy="711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572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操作可行性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35500" y="4064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界面友好：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系统页面布局简洁清晰，符合用户直觉与日常操作习惯，降低认知成本。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操作简便：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核心业务流程步骤精简，提供引导式操作，无需专业培训即可快速上手。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多端适配：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纯浏览器访问模式，完美兼容 Windows/macOS 及主流浏览器，灵活便捷。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128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28000" y="2032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23400" y="2413000"/>
            <a:ext cx="711200" cy="711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255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社会可行性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18500" y="4064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顺应建设趋势：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契合当前高校推进数字化校园建设、实现管理智能化的大方向与政策导向。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多方价值认可：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切实减轻管理人员行政负担，提升服务响应速度，为师生提供便利。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合规与安全：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严格遵守国家网络安全法及个人信息保护法，确保数据与信息安全合规。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系统需求分析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用例分析：系统角色与功能拆解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2171700" y="1870710"/>
            <a:ext cx="2286000" cy="4191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2171700" y="1870710"/>
            <a:ext cx="2286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62200" y="207391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2933700" y="2023110"/>
            <a:ext cx="139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学生角色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2298700" y="3013710"/>
            <a:ext cx="203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日常事务与生活服务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登录认证与个人中心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在线报修与进度跟踪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智能打卡与补卡申请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水电费在线查看支付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访客预约与换寝申请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紧急求助与失物招领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智能客服与公告查看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4711700" y="1870710"/>
            <a:ext cx="2286000" cy="4191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4711700" y="1870710"/>
            <a:ext cx="2286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02200" y="207391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5473700" y="2023110"/>
            <a:ext cx="139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宿管员角色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4838700" y="2828925"/>
            <a:ext cx="203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楼栋日常运营与管理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学生信息与宿舍分配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报修工单处理与跟踪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卫生检查与文明评选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水电费录入与催缴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访客与换寝申请审批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学生打卡情况统计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7251700" y="1870710"/>
            <a:ext cx="2286000" cy="4191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7251700" y="1870710"/>
            <a:ext cx="2286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42200" y="207391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8013700" y="2023110"/>
            <a:ext cx="139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管理员角色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7378700" y="2828925"/>
            <a:ext cx="203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全局系统配置与维护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全角色用户信息管理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楼栋宿舍资源管理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系统数据统计与可视化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公告发布与系统管理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数据库备份与日志查看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维修人员与权限管理</a:t>
            </a:r>
            <a:endParaRPr lang="zh-CN" alt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系统总体设计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32" r="232"/>
          <a:stretch>
            <a:fillRect/>
          </a:stretch>
        </p:blipFill>
        <p:spPr>
          <a:xfrm>
            <a:off x="762000" y="1778000"/>
            <a:ext cx="5080000" cy="44450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223000" y="1651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05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239000" y="1841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 Frontend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 3 + Element Plus + Vite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负责用户界面展示与交互，通过 Axios 实现与后端的数据通信。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3238500"/>
            <a:ext cx="5207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810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3619500"/>
            <a:ext cx="393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 Backend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+ Spring Security + JWT + MyBatis-Plus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Controller-Service-Mapper 经典三层架构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Spring Security 与 JWT 实现无状态认证。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5080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5397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239000" y="52705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 Database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技术选型：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8.0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作为系统核心存储，负责持久化所有业务结构化数据。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系统总体设计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功能模块设计：三大核心角色协同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540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175000"/>
            <a:ext cx="2794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学生端模块：便捷服务中心</a:t>
            </a:r>
            <a:endParaRPr lang="en-US" sz="1100"/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面向学生提供宿舍生活全流程服务，涵盖个人信息管理、在线报修、智能打卡、水电费缴纳、访客预约、换寝申请、紧急求助、失物招领及智能客服等功能。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286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540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3175000"/>
            <a:ext cx="2794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宿管端模块：楼栋管理中枢</a:t>
            </a:r>
            <a:endParaRPr lang="en-US" sz="1100"/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聚焦楼栋日常运营，支持学生信息管理、宿舍分配、报修工单处理、卫生检查、水电费录入、访客审批及打卡统计等，提升管理效率。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2286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540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382000" y="3175000"/>
            <a:ext cx="2794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管理员端模块：系统配置核心</a:t>
            </a:r>
            <a:endParaRPr lang="en-US" sz="1100"/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负责全局系统配置与维护，包括全角色用户管理、资源管理、数据统计可视化、公告管理、权限分配及日志查看等核心能力。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数据库设计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核心实体与关系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048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角色实体 (User Entities)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定义核心用户群体：学生、宿管员、管理员和维修员。各角色拥有不同权限，构成管理基础。管理员管理宿管员，宿管员管理学生，层次清晰。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286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3048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宿舍资源实体 (Resource)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物理空间基础：宿舍楼(Building)、宿舍(Room)和床位(Bed)。存在明确层级关系：楼含宿舍，宿舍含床位，学生入住具体床位。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2032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286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382000" y="3048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业务实体 (Business)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支撑日常运营：报修单、水电费、卫生检查、访客预约、换寝申请等。记录核心业务流程，是连接用户与资源的关键纽带。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关键技术栈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0000" b="10000"/>
          <a:stretch>
            <a:fillRect/>
          </a:stretch>
        </p:blipFill>
        <p:spPr>
          <a:xfrm>
            <a:off x="1778000" y="2095500"/>
            <a:ext cx="1270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89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后端框架：Spring Boot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95500" y="3937000"/>
            <a:ext cx="635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4318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约定优于配置，开箱即用，内嵌服务器，显著降低开发与部署成本。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主要应用：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作为后端系统核心，统一处理HTTP请求，负责复杂业务逻辑调度与整合。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7197" r="23340"/>
          <a:stretch>
            <a:fillRect/>
          </a:stretch>
        </p:blipFill>
        <p:spPr>
          <a:xfrm>
            <a:off x="5342890" y="2032000"/>
            <a:ext cx="1505585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572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前端框架：Vue.js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78500" y="3937000"/>
            <a:ext cx="635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35500" y="4318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组件化开发模式，支持双向数据绑定，轻量、易上手且运行高效。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主要应用：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Vue 3 生态，结合 Element Plus 组件库，快速构建现代化响应式用户界面。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t="9924" b="9924"/>
          <a:stretch>
            <a:fillRect/>
          </a:stretch>
        </p:blipFill>
        <p:spPr>
          <a:xfrm>
            <a:off x="9144000" y="2095500"/>
            <a:ext cx="1270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255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数据库：MySQL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461500" y="3937000"/>
            <a:ext cx="635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18500" y="4318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全球流行的开源关系型数据库，性能稳定可靠，功能强大且成本低廉。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主要应用：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承担系统核心数据的持久化存储，保障业务数据的一致性与安全性。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关键技术栈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 descr="C:/Users/32010/Desktop/图片/ae50ea7fc0d3a584e3d2b536dca35356.pngae50ea7fc0d3a584e3d2b536dca3535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34827" r="34827" b="31538"/>
          <a:stretch>
            <a:fillRect/>
          </a:stretch>
        </p:blipFill>
        <p:spPr>
          <a:xfrm>
            <a:off x="952500" y="2228850"/>
            <a:ext cx="1251585" cy="85725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2311400" y="1778000"/>
            <a:ext cx="34036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JWT (JSON Web Token)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用于实现无状态的用户身份认证。用户登录后，后端生成Token返回给前端，前端在后续请求中携带Token进行身份验证，保障接口调用安全。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6223000" y="1524000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2362200"/>
            <a:ext cx="863600" cy="863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7620000" y="1778000"/>
            <a:ext cx="355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0000"/>
              </a:lnSpc>
              <a:buSzTx/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Security</a:t>
            </a:r>
            <a:endParaRPr lang="en-US" sz="1800" b="1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用于构建高可靠的访问控制体系，实现基于角色的细粒度权限管理。有效拦截非法访问请求，保障系统核心数据与功能的安全访问。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762000" y="4191000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1880" y="4965700"/>
            <a:ext cx="863600" cy="863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5"/>
            </p:custDataLst>
          </p:nvPr>
        </p:nvSpPr>
        <p:spPr>
          <a:xfrm>
            <a:off x="2311400" y="4445000"/>
            <a:ext cx="355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0000"/>
              </a:lnSpc>
              <a:buSzTx/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MyBatis-Plus</a:t>
            </a:r>
            <a:endParaRPr lang="en-US" sz="1800" b="1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在MyBatis基础上增强，提供开箱即用的CRUD功能，大幅减少重复SQL代码的编写。支持复杂条件查询与分页，显著提升开发与维护效率。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6"/>
            </p:custDataLst>
          </p:nvPr>
        </p:nvSpPr>
        <p:spPr>
          <a:xfrm>
            <a:off x="6223000" y="4191000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 descr="C:/Users/32010/Desktop/图片/20250417134716_18507.png20250417134716_1850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rcRect t="19" b="19"/>
          <a:stretch>
            <a:fillRect/>
          </a:stretch>
        </p:blipFill>
        <p:spPr>
          <a:xfrm>
            <a:off x="6413500" y="4747260"/>
            <a:ext cx="1300480" cy="130048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7620000" y="4445000"/>
            <a:ext cx="355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 AI 集成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深度集成大语言模型，打造智能化的客服与辅助系统。能够实时响应用户咨询，解决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问题，显著降低人工客服压力并提升服务体验。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系统功能实现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9229725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905000" y="1841500"/>
            <a:ext cx="651383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登录认证 · 安全可靠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采用基于 JWT 的无状态认证机制，确保会话安全；用户密码使用 BCrypt 高强度加密算法存储，全方位保障学生账号信息安全。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762000" y="3365500"/>
            <a:ext cx="9229725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746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1905000" y="3619500"/>
            <a:ext cx="651383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在线报修 · 流程透明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支持故障类型选择、文字描述及照片上传，直观反映问题。引入状态机模式管理“待处理-已接单-维修中-已完成”全生命周期，进度实时可查。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762000" y="5080000"/>
            <a:ext cx="9229725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000" y="5397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6"/>
            </p:custDataLst>
          </p:nvPr>
        </p:nvSpPr>
        <p:spPr>
          <a:xfrm>
            <a:off x="1905000" y="5270500"/>
            <a:ext cx="651383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换寝申请 · 数据一致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支持在线提交换寝申请，宿管员审批通过后，系统自动触发数据库事务，确保学生宿舍信息、床位占用状态等数据的一致性更新。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系统功能实现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宿管端与管理员端核心功能模块解析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914654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22500"/>
            <a:ext cx="762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222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宿管员端 · Dorm Staff Terminal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8410" y="2921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01800" y="276479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打卡管理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查看学生打卡记录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一键审批补卡申请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4790" y="2921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419600" y="270891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水电费管理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录入每月水电读数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系统自动生成账单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52945" y="2921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42200" y="270891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文明宿舍评选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关联卫生检查成绩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自动汇总排名展示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445000"/>
            <a:ext cx="914654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635500"/>
            <a:ext cx="762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4635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管理员端 · System Admin Terminal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48410" y="5334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01800" y="52070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用户全维管理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学生/宿管信息管理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支持批量增删改查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34790" y="5334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414520" y="52070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数据可视分析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基于ECharts图表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报修/水电数据统计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52945" y="5334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66000" y="5075555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报表导入导出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集成POI组件库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Excel报表高效处理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系统功能实现</a:t>
            </a:r>
            <a:endParaRPr lang="en-US" sz="1100"/>
          </a:p>
        </p:txBody>
      </p:sp>
      <p:pic>
        <p:nvPicPr>
          <p:cNvPr id="4" name="Picture 4" descr="C:/Users/32010/Desktop/图片/图片1.png图片1"/>
          <p:cNvPicPr>
            <a:picLocks noChangeAspect="1"/>
          </p:cNvPicPr>
          <p:nvPr/>
        </p:nvPicPr>
        <p:blipFill>
          <a:blip r:embed="rId2"/>
          <a:srcRect l="2461" r="4292"/>
          <a:stretch>
            <a:fillRect/>
          </a:stretch>
        </p:blipFill>
        <p:spPr>
          <a:xfrm>
            <a:off x="158750" y="1576705"/>
            <a:ext cx="7988935" cy="4318000"/>
          </a:xfrm>
          <a:prstGeom prst="roundRect">
            <a:avLst>
              <a:gd name="adj" fmla="val 3529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8279130" y="1508125"/>
            <a:ext cx="3670935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3275" y="163957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9156700" y="1695450"/>
            <a:ext cx="2697480" cy="105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智能客服 · 功能定位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 AI 智能问答与人工客服转接服务，构建“7x24小时”不间断响应的服务体系，快速解决用户各类咨询需求。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279765" y="2960370"/>
            <a:ext cx="3670300" cy="1573530"/>
          </a:xfrm>
          <a:prstGeom prst="roundRect">
            <a:avLst>
              <a:gd name="adj" fmla="val 857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3275" y="314325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9156065" y="3143250"/>
            <a:ext cx="263334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核心实现逻辑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深度集成</a:t>
            </a:r>
            <a:r>
              <a:rPr lang="en-US" sz="1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 AI 接口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，精准理解并回复用户问题。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支持上下文记忆的多轮对话与完整的会话生命周期管理。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238490" y="4744720"/>
            <a:ext cx="3670300" cy="1143000"/>
          </a:xfrm>
          <a:prstGeom prst="roundRect">
            <a:avLst>
              <a:gd name="adj" fmla="val 13333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23275" y="4874895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156065" y="4874895"/>
            <a:ext cx="2752725" cy="10128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创新价值与目标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AI 能力深度融入校园服务场景，有效分流咨询压力，显著提升服务响应速度与师生满意度。</a:t>
            </a:r>
            <a:endParaRPr lang="en-US" sz="1200" b="0" i="0" u="none" strike="noStrike">
              <a:solidFill>
                <a:srgbClr val="16653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系统测试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测试环境配置与全维度测试结果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标准化测试环境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27735" y="2667000"/>
            <a:ext cx="2413000" cy="1651000"/>
          </a:xfrm>
          <a:prstGeom prst="roundRect">
            <a:avLst>
              <a:gd name="adj" fmla="val 615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92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28575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操作系统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Windows 11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家庭版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492500" y="2667000"/>
            <a:ext cx="2413000" cy="1651000"/>
          </a:xfrm>
          <a:prstGeom prst="roundRect">
            <a:avLst>
              <a:gd name="adj" fmla="val 615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25000" r="25000"/>
          <a:stretch>
            <a:fillRect/>
          </a:stretch>
        </p:blipFill>
        <p:spPr>
          <a:xfrm>
            <a:off x="3556000" y="2857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 l="12471" r="12471"/>
          <a:stretch>
            <a:fillRect/>
          </a:stretch>
        </p:blipFill>
        <p:spPr>
          <a:xfrm>
            <a:off x="4147185" y="2857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4737735" y="2857500"/>
            <a:ext cx="110426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双工具链</a:t>
            </a:r>
            <a:r>
              <a:rPr lang="zh-CN" alt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＋</a:t>
            </a:r>
            <a:r>
              <a:rPr lang="en-US" altLang="zh-CN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IDEA &amp;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VS Code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trae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52500" y="4445000"/>
            <a:ext cx="2413000" cy="1651000"/>
          </a:xfrm>
          <a:prstGeom prst="roundRect">
            <a:avLst>
              <a:gd name="adj" fmla="val 615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 l="5989" r="52865"/>
          <a:stretch>
            <a:fillRect/>
          </a:stretch>
        </p:blipFill>
        <p:spPr>
          <a:xfrm>
            <a:off x="1085850" y="4889500"/>
            <a:ext cx="50165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1778000" y="4635500"/>
            <a:ext cx="152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服务端 &amp; 前端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(Tomcat)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 Vite 构建工具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492500" y="4445000"/>
            <a:ext cx="2413000" cy="1651000"/>
          </a:xfrm>
          <a:prstGeom prst="roundRect">
            <a:avLst>
              <a:gd name="adj" fmla="val 615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19500" y="4635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191000" y="4635500"/>
            <a:ext cx="158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数据存储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8.0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关系型数据库集群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23000" y="1905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2095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📊 全维度测试结果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2667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0FDF4">
              <a:alpha val="9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2857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75500" y="27686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功能测试 (黑盒)：100% 通过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覆盖所有核心业务流程，无阻塞性Bug，完全符合产品需求。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477000" y="3683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0FDF4">
              <a:alpha val="9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604000" y="3873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7239000" y="37846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性能测试 (JMeter)：并发稳定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</a:t>
            </a:r>
            <a:r>
              <a:rPr lang="en-US" altLang="zh-CN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1000 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并发平均</a:t>
            </a:r>
            <a:r>
              <a:rPr lang="en-US" altLang="zh-CN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105ms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，查询</a:t>
            </a:r>
            <a:r>
              <a:rPr lang="en-US" altLang="zh-CN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500 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并发平均</a:t>
            </a:r>
            <a:r>
              <a:rPr lang="en-US" altLang="zh-CN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14ms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477000" y="469900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48895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048500" y="4889500"/>
            <a:ext cx="158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安全性测试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altLang="zh-CN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Token 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防篡改验证</a:t>
            </a:r>
            <a:endParaRPr lang="zh-CN" alt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密码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数据加密存储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8890000" y="469900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17000" y="4889500"/>
            <a:ext cx="355600" cy="355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461500" y="4889500"/>
            <a:ext cx="158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兼容性测试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Chrome / Firefox / Edge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多分辨率自适应适配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4" name="Picture 11" descr="C:/Users/32010/Desktop/图片/trae1.pngtrae1"/>
          <p:cNvPicPr>
            <a:picLocks noChangeAspect="1"/>
          </p:cNvPicPr>
          <p:nvPr/>
        </p:nvPicPr>
        <p:blipFill>
          <a:blip r:embed="rId16"/>
          <a:srcRect t="63" b="63"/>
          <a:stretch>
            <a:fillRect/>
          </a:stretch>
        </p:blipFill>
        <p:spPr>
          <a:xfrm>
            <a:off x="3797935" y="3492500"/>
            <a:ext cx="508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总结与展望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778000"/>
            <a:ext cx="889000" cy="2159000"/>
          </a:xfrm>
          <a:prstGeom prst="roundRect">
            <a:avLst>
              <a:gd name="adj" fmla="val 11428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300" y="2476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841500" y="2032000"/>
            <a:ext cx="393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完成情况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成功设计并实现了一个基于 Spring Boot 的智能宿舍管理系统，功能完整且逻辑严密，全面涵盖了学生、宿管和管理员三大核心角色的高频业务场景。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6223000" y="1778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6223000" y="1778000"/>
            <a:ext cx="889000" cy="2159000"/>
          </a:xfrm>
          <a:prstGeom prst="roundRect">
            <a:avLst>
              <a:gd name="adj" fmla="val 11428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64300" y="2476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7302500" y="2032000"/>
            <a:ext cx="393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采用前后端分离架构，整合了 Vue、MySQL、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spring boot 等多种主流技术栈，确保了系统的高性能与可扩展性，成功实现了宿舍管理的全面数字化与智能化。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762000" y="4191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762000" y="4191000"/>
            <a:ext cx="889000" cy="2159000"/>
          </a:xfrm>
          <a:prstGeom prst="roundRect">
            <a:avLst>
              <a:gd name="adj" fmla="val 11428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03300" y="4889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1841500" y="4381500"/>
            <a:ext cx="3937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核心创新点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集成 AI 智能客服模块，提升日常咨询响应效率与体验。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功能创新，增加了失物招领、智能预警等功能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通过批量查询解决了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N+1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问题，解决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N+1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查询问题，数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据库查询从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1501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次降到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4 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次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查询效率提升了</a:t>
            </a: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67</a:t>
            </a:r>
            <a:r>
              <a:rPr lang="zh-CN" alt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倍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6223000" y="4191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6223000" y="4191000"/>
            <a:ext cx="889000" cy="2159000"/>
          </a:xfrm>
          <a:prstGeom prst="roundRect">
            <a:avLst>
              <a:gd name="adj" fmla="val 11428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64300" y="4889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5"/>
            </p:custDataLst>
          </p:nvPr>
        </p:nvSpPr>
        <p:spPr>
          <a:xfrm>
            <a:off x="7302500" y="4445000"/>
            <a:ext cx="3937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有效解决了传统宿舍管理中信息不透明、流程繁琐、数据难统计等痛点，通过系统化手段优化了管理流程，完全达到了项目预期的设计目标。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 · Future Outlook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03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651000" y="2565400"/>
            <a:ext cx="215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功能扩展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3429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支付集成：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对接微信、支付宝等第三方平台，实现费用一键缴清。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移动端App：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开发原生应用或小程序，提升用户的碎片化使用体验。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物联网集成：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无缝接入智能水电表、门禁等硬件，实现全场景数字化管理。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445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2603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334000" y="2565400"/>
            <a:ext cx="215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性能优化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4699000" y="3429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缓存机制升级：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 Redis 缓存热点数据，大幅缩短高并发下的响应时间，提升系统吞吐量。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微服务架构改造：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拆分单体应用，降低模块耦合度，支持灵活扩展与独立部署。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8128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603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9017000" y="2565400"/>
            <a:ext cx="215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智能化深化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8382000" y="3429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异常行为预警：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基于大数据分析用户历史行为，建立模型识别并预警异常操作，保障数据安全。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个性化推荐：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基于学生的生活习惯、兴趣偏好，精准推荐合适的室友匹配方案或社区活动。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 谢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4700" y="2286000"/>
            <a:ext cx="736600" cy="736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016000" y="3302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恩师指引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4191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感谢我的指导老师刘海波老师，在课题研究和论文撰写过程中给予的悉心指导和无私帮助，指引我不断前行。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27700" y="2286000"/>
            <a:ext cx="736600" cy="736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4699000" y="3302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学院栽培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699000" y="4191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感谢学院提供的优越学习环境，以及所有任课老师的传道授业与谆谆教诲，让我在专业领域不断精进。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8128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10700" y="2286000"/>
            <a:ext cx="736600" cy="736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8382000" y="3302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同窗互助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8382000" y="4191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最后，感谢在整个项目开发和学习生活中，所有给予我无私支持、陪伴和帮助的同学们，是你们让这段旅程更温暖。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080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300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2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3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4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5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6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7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8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9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10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11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12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13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14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15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16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17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18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19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20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21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22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23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24.xml><?xml version="1.0" encoding="utf-8"?>
<p:tagLst xmlns:p="http://schemas.openxmlformats.org/presentationml/2006/main">
  <p:tag name="KSO_WM_DIAGRAM_VIRTUALLY_FRAME" val="{&quot;height&quot;:384,&quot;left&quot;:60,&quot;top&quot;:120,&quot;width&quot;:840}"/>
</p:tagLst>
</file>

<file path=ppt/tags/tag25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26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27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28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29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30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31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32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33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34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35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36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37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38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39.xml><?xml version="1.0" encoding="utf-8"?>
<p:tagLst xmlns:p="http://schemas.openxmlformats.org/presentationml/2006/main">
  <p:tag name="KSO_WM_DIAGRAM_VIRTUALLY_FRAME" val="{&quot;height&quot;:347.55,&quot;left&quot;:171,&quot;top&quot;:147.3,&quot;width&quot;:580}"/>
</p:tagLst>
</file>

<file path=ppt/tags/tag40.xml><?xml version="1.0" encoding="utf-8"?>
<p:tagLst xmlns:p="http://schemas.openxmlformats.org/presentationml/2006/main">
  <p:tag name="KSO_WM_DIAGRAM_VIRTUALLY_FRAME" val="{&quot;height&quot;:400,&quot;left&quot;:60,&quot;top&quot;:120,&quot;width&quot;:840}"/>
</p:tagLst>
</file>

<file path=ppt/tags/tag41.xml><?xml version="1.0" encoding="utf-8"?>
<p:tagLst xmlns:p="http://schemas.openxmlformats.org/presentationml/2006/main">
  <p:tag name="KSO_WM_DIAGRAM_VIRTUALLY_FRAME" val="{&quot;height&quot;:400,&quot;left&quot;:60,&quot;top&quot;:120,&quot;width&quot;:840}"/>
</p:tagLst>
</file>

<file path=ppt/tags/tag42.xml><?xml version="1.0" encoding="utf-8"?>
<p:tagLst xmlns:p="http://schemas.openxmlformats.org/presentationml/2006/main">
  <p:tag name="KSO_WM_DIAGRAM_VIRTUALLY_FRAME" val="{&quot;height&quot;:400,&quot;left&quot;:60,&quot;top&quot;:120,&quot;width&quot;:840}"/>
</p:tagLst>
</file>

<file path=ppt/tags/tag43.xml><?xml version="1.0" encoding="utf-8"?>
<p:tagLst xmlns:p="http://schemas.openxmlformats.org/presentationml/2006/main">
  <p:tag name="KSO_WM_DIAGRAM_VIRTUALLY_FRAME" val="{&quot;height&quot;:400,&quot;left&quot;:60,&quot;top&quot;:120,&quot;width&quot;:840}"/>
</p:tagLst>
</file>

<file path=ppt/tags/tag44.xml><?xml version="1.0" encoding="utf-8"?>
<p:tagLst xmlns:p="http://schemas.openxmlformats.org/presentationml/2006/main">
  <p:tag name="KSO_WM_DIAGRAM_VIRTUALLY_FRAME" val="{&quot;height&quot;:400,&quot;left&quot;:60,&quot;top&quot;:120,&quot;width&quot;:840}"/>
</p:tagLst>
</file>

<file path=ppt/tags/tag45.xml><?xml version="1.0" encoding="utf-8"?>
<p:tagLst xmlns:p="http://schemas.openxmlformats.org/presentationml/2006/main">
  <p:tag name="KSO_WM_DIAGRAM_VIRTUALLY_FRAME" val="{&quot;height&quot;:400,&quot;left&quot;:60,&quot;top&quot;:120,&quot;width&quot;:840}"/>
</p:tagLst>
</file>

<file path=ppt/tags/tag46.xml><?xml version="1.0" encoding="utf-8"?>
<p:tagLst xmlns:p="http://schemas.openxmlformats.org/presentationml/2006/main">
  <p:tag name="KSO_WM_DIAGRAM_VIRTUALLY_FRAME" val="{&quot;height&quot;:400,&quot;left&quot;:60,&quot;top&quot;:120,&quot;width&quot;:840}"/>
</p:tagLst>
</file>

<file path=ppt/tags/tag47.xml><?xml version="1.0" encoding="utf-8"?>
<p:tagLst xmlns:p="http://schemas.openxmlformats.org/presentationml/2006/main">
  <p:tag name="KSO_WM_DIAGRAM_VIRTUALLY_FRAME" val="{&quot;height&quot;:400,&quot;left&quot;:60,&quot;top&quot;:120,&quot;width&quot;:840}"/>
</p:tagLst>
</file>

<file path=ppt/tags/tag48.xml><?xml version="1.0" encoding="utf-8"?>
<p:tagLst xmlns:p="http://schemas.openxmlformats.org/presentationml/2006/main">
  <p:tag name="KSO_WM_DIAGRAM_VIRTUALLY_FRAME" val="{&quot;height&quot;:400,&quot;left&quot;:60,&quot;top&quot;:120,&quot;width&quot;:840}"/>
</p:tagLst>
</file>

<file path=ppt/tags/tag49.xml><?xml version="1.0" encoding="utf-8"?>
<p:tagLst xmlns:p="http://schemas.openxmlformats.org/presentationml/2006/main">
  <p:tag name="KSO_WM_DIAGRAM_VIRTUALLY_FRAME" val="{&quot;height&quot;:400,&quot;left&quot;:60,&quot;top&quot;:120,&quot;width&quot;:840}"/>
</p:tagLst>
</file>

<file path=ppt/tags/tag50.xml><?xml version="1.0" encoding="utf-8"?>
<p:tagLst xmlns:p="http://schemas.openxmlformats.org/presentationml/2006/main">
  <p:tag name="KSO_WM_DIAGRAM_VIRTUALLY_FRAME" val="{&quot;height&quot;:400,&quot;left&quot;:60,&quot;top&quot;:120,&quot;width&quot;:840}"/>
</p:tagLst>
</file>

<file path=ppt/tags/tag51.xml><?xml version="1.0" encoding="utf-8"?>
<p:tagLst xmlns:p="http://schemas.openxmlformats.org/presentationml/2006/main">
  <p:tag name="KSO_WM_DIAGRAM_VIRTUALLY_FRAME" val="{&quot;height&quot;:400,&quot;left&quot;:60,&quot;top&quot;:120,&quot;width&quot;:840}"/>
</p:tagLst>
</file>

<file path=ppt/tags/tag52.xml><?xml version="1.0" encoding="utf-8"?>
<p:tagLst xmlns:p="http://schemas.openxmlformats.org/presentationml/2006/main">
  <p:tag name="KSO_WM_DIAGRAM_VIRTUALLY_FRAME" val="{&quot;height&quot;:380,&quot;left&quot;:60,&quot;top&quot;:130,&quot;width&quot;:726.75}"/>
</p:tagLst>
</file>

<file path=ppt/tags/tag53.xml><?xml version="1.0" encoding="utf-8"?>
<p:tagLst xmlns:p="http://schemas.openxmlformats.org/presentationml/2006/main">
  <p:tag name="KSO_WM_DIAGRAM_VIRTUALLY_FRAME" val="{&quot;height&quot;:380,&quot;left&quot;:60,&quot;top&quot;:130,&quot;width&quot;:726.75}"/>
</p:tagLst>
</file>

<file path=ppt/tags/tag54.xml><?xml version="1.0" encoding="utf-8"?>
<p:tagLst xmlns:p="http://schemas.openxmlformats.org/presentationml/2006/main">
  <p:tag name="KSO_WM_DIAGRAM_VIRTUALLY_FRAME" val="{&quot;height&quot;:380,&quot;left&quot;:60,&quot;top&quot;:130,&quot;width&quot;:726.75}"/>
</p:tagLst>
</file>

<file path=ppt/tags/tag55.xml><?xml version="1.0" encoding="utf-8"?>
<p:tagLst xmlns:p="http://schemas.openxmlformats.org/presentationml/2006/main">
  <p:tag name="KSO_WM_DIAGRAM_VIRTUALLY_FRAME" val="{&quot;height&quot;:380,&quot;left&quot;:60,&quot;top&quot;:130,&quot;width&quot;:726.75}"/>
</p:tagLst>
</file>

<file path=ppt/tags/tag56.xml><?xml version="1.0" encoding="utf-8"?>
<p:tagLst xmlns:p="http://schemas.openxmlformats.org/presentationml/2006/main">
  <p:tag name="KSO_WM_DIAGRAM_VIRTUALLY_FRAME" val="{&quot;height&quot;:380,&quot;left&quot;:60,&quot;top&quot;:130,&quot;width&quot;:726.75}"/>
</p:tagLst>
</file>

<file path=ppt/tags/tag57.xml><?xml version="1.0" encoding="utf-8"?>
<p:tagLst xmlns:p="http://schemas.openxmlformats.org/presentationml/2006/main">
  <p:tag name="KSO_WM_DIAGRAM_VIRTUALLY_FRAME" val="{&quot;height&quot;:380,&quot;left&quot;:60,&quot;top&quot;:130,&quot;width&quot;:726.75}"/>
</p:tagLst>
</file>

<file path=ppt/tags/tag58.xml><?xml version="1.0" encoding="utf-8"?>
<p:tagLst xmlns:p="http://schemas.openxmlformats.org/presentationml/2006/main">
  <p:tag name="KSO_WM_DIAGRAM_VIRTUALLY_FRAME" val="{&quot;height&quot;:380,&quot;left&quot;:60,&quot;top&quot;:130,&quot;width&quot;:726.75}"/>
</p:tagLst>
</file>

<file path=ppt/tags/tag59.xml><?xml version="1.0" encoding="utf-8"?>
<p:tagLst xmlns:p="http://schemas.openxmlformats.org/presentationml/2006/main">
  <p:tag name="KSO_WM_DIAGRAM_VIRTUALLY_FRAME" val="{&quot;height&quot;:380,&quot;left&quot;:60,&quot;top&quot;:130,&quot;width&quot;:726.75}"/>
</p:tagLst>
</file>

<file path=ppt/tags/tag60.xml><?xml version="1.0" encoding="utf-8"?>
<p:tagLst xmlns:p="http://schemas.openxmlformats.org/presentationml/2006/main">
  <p:tag name="KSO_WM_DIAGRAM_VIRTUALLY_FRAME" val="{&quot;height&quot;:380,&quot;left&quot;:60,&quot;top&quot;:130,&quot;width&quot;:726.75}"/>
</p:tagLst>
</file>

<file path=ppt/tags/tag61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2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3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4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5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6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7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8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9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70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71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72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73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74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75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76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77.xml><?xml version="1.0" encoding="utf-8"?>
<p:tagLst xmlns:p="http://schemas.openxmlformats.org/presentationml/2006/main">
  <p:tag name="KSO_WM_DIAGRAM_VIRTUALLY_FRAME" val="{&quot;height&quot;:310,&quot;left&quot;:60,&quot;top&quot;:180,&quot;width&quot;:840}"/>
</p:tagLst>
</file>

<file path=ppt/tags/tag78.xml><?xml version="1.0" encoding="utf-8"?>
<p:tagLst xmlns:p="http://schemas.openxmlformats.org/presentationml/2006/main">
  <p:tag name="KSO_WM_DIAGRAM_VIRTUALLY_FRAME" val="{&quot;height&quot;:310,&quot;left&quot;:60,&quot;top&quot;:180,&quot;width&quot;:840}"/>
</p:tagLst>
</file>

<file path=ppt/tags/tag79.xml><?xml version="1.0" encoding="utf-8"?>
<p:tagLst xmlns:p="http://schemas.openxmlformats.org/presentationml/2006/main">
  <p:tag name="KSO_WM_DIAGRAM_VIRTUALLY_FRAME" val="{&quot;height&quot;:310,&quot;left&quot;:60,&quot;top&quot;:180,&quot;width&quot;:840}"/>
</p:tagLst>
</file>

<file path=ppt/tags/tag80.xml><?xml version="1.0" encoding="utf-8"?>
<p:tagLst xmlns:p="http://schemas.openxmlformats.org/presentationml/2006/main">
  <p:tag name="KSO_WM_DIAGRAM_VIRTUALLY_FRAME" val="{&quot;height&quot;:310,&quot;left&quot;:60,&quot;top&quot;:180,&quot;width&quot;:840}"/>
</p:tagLst>
</file>

<file path=ppt/tags/tag81.xml><?xml version="1.0" encoding="utf-8"?>
<p:tagLst xmlns:p="http://schemas.openxmlformats.org/presentationml/2006/main">
  <p:tag name="KSO_WM_DIAGRAM_VIRTUALLY_FRAME" val="{&quot;height&quot;:310,&quot;left&quot;:60,&quot;top&quot;:180,&quot;width&quot;:840}"/>
</p:tagLst>
</file>

<file path=ppt/tags/tag82.xml><?xml version="1.0" encoding="utf-8"?>
<p:tagLst xmlns:p="http://schemas.openxmlformats.org/presentationml/2006/main">
  <p:tag name="KSO_WM_DIAGRAM_VIRTUALLY_FRAME" val="{&quot;height&quot;:310,&quot;left&quot;:60,&quot;top&quot;:180,&quot;width&quot;:840}"/>
</p:tagLst>
</file>

<file path=ppt/tags/tag83.xml><?xml version="1.0" encoding="utf-8"?>
<p:tagLst xmlns:p="http://schemas.openxmlformats.org/presentationml/2006/main">
  <p:tag name="KSO_WM_DIAGRAM_VIRTUALLY_FRAME" val="{&quot;height&quot;:310,&quot;left&quot;:60,&quot;top&quot;:180,&quot;width&quot;:840}"/>
</p:tagLst>
</file>

<file path=ppt/tags/tag84.xml><?xml version="1.0" encoding="utf-8"?>
<p:tagLst xmlns:p="http://schemas.openxmlformats.org/presentationml/2006/main">
  <p:tag name="KSO_WM_DIAGRAM_VIRTUALLY_FRAME" val="{&quot;height&quot;:310,&quot;left&quot;:60,&quot;top&quot;:180,&quot;width&quot;:840}"/>
</p:tagLst>
</file>

<file path=ppt/tags/tag85.xml><?xml version="1.0" encoding="utf-8"?>
<p:tagLst xmlns:p="http://schemas.openxmlformats.org/presentationml/2006/main">
  <p:tag name="KSO_WM_DIAGRAM_VIRTUALLY_FRAME" val="{&quot;height&quot;:310,&quot;left&quot;:60,&quot;top&quot;:180,&quot;width&quot;:840}"/>
</p:tagLst>
</file>

<file path=ppt/tags/tag86.xml><?xml version="1.0" encoding="utf-8"?>
<p:tagLst xmlns:p="http://schemas.openxmlformats.org/presentationml/2006/main">
  <p:tag name="KSO_WM_DIAGRAM_VIRTUALLY_FRAME" val="{&quot;height&quot;:310,&quot;left&quot;:60,&quot;top&quot;:180,&quot;width&quot;:840}"/>
</p:tagLst>
</file>

<file path=ppt/tags/tag87.xml><?xml version="1.0" encoding="utf-8"?>
<p:tagLst xmlns:p="http://schemas.openxmlformats.org/presentationml/2006/main">
  <p:tag name="KSO_WM_DIAGRAM_VIRTUALLY_FRAME" val="{&quot;height&quot;:310,&quot;left&quot;:60,&quot;top&quot;:180,&quot;width&quot;:840}"/>
</p:tagLst>
</file>

<file path=ppt/tags/tag88.xml><?xml version="1.0" encoding="utf-8"?>
<p:tagLst xmlns:p="http://schemas.openxmlformats.org/presentationml/2006/main">
  <p:tag name="KSO_WM_DIAGRAM_VIRTUALLY_FRAME" val="{&quot;height&quot;:310,&quot;left&quot;:60,&quot;top&quot;:180,&quot;width&quot;:840}"/>
</p:tagLst>
</file>

<file path=ppt/tags/tag89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90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91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92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93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94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95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96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97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98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99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100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4635</Words>
  <Application>WPS 演示</Application>
  <PresentationFormat/>
  <Paragraphs>362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₯㎕</cp:lastModifiedBy>
  <cp:revision>8</cp:revision>
  <dcterms:created xsi:type="dcterms:W3CDTF">2026-05-04T10:06:00Z</dcterms:created>
  <dcterms:modified xsi:type="dcterms:W3CDTF">2026-05-13T11:30:39Z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9BA37C3AFDAB471390FC948C613522DF_13</vt:lpwstr>
  </property>
  <property fmtid="{D5CDD505-2E9C-101B-9397-08002B2CF9AE}" pid="3" name="KSOProductBuildVer">
    <vt:lpwstr>2052-12.1.0.23542</vt:lpwstr>
  </property>
</Properties>
</file>